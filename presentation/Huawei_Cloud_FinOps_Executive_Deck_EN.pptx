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b20312b624335" /><Relationship Type="http://schemas.openxmlformats.org/officeDocument/2006/relationships/extended-properties" Target="/docProps/app.xml" Id="R4ed136a143274df5" /><Relationship Type="http://schemas.openxmlformats.org/officeDocument/2006/relationships/officeDocument" Target="/ppt/presentation.xml" Id="R87104d27fefc42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98cc4927484061"/>
  </p:sldMasterIdLst>
  <p:notesMasterIdLst>
    <p:notesMasterId xmlns:r="http://schemas.openxmlformats.org/officeDocument/2006/relationships" r:id="R7e6271f164b2449d"/>
  </p:notesMasterIdLst>
  <p:sldIdLst>
    <p:sldId xmlns:r="http://schemas.openxmlformats.org/officeDocument/2006/relationships" id="256" r:id="R83776036d1b34a75"/>
    <p:sldId xmlns:r="http://schemas.openxmlformats.org/officeDocument/2006/relationships" id="257" r:id="R820104720d4c4fe5"/>
    <p:sldId xmlns:r="http://schemas.openxmlformats.org/officeDocument/2006/relationships" id="258" r:id="R5a15e00f632d4f57"/>
    <p:sldId xmlns:r="http://schemas.openxmlformats.org/officeDocument/2006/relationships" id="259" r:id="R36eeeb66b8e347f1"/>
    <p:sldId xmlns:r="http://schemas.openxmlformats.org/officeDocument/2006/relationships" id="260" r:id="Rd9b4f1b9464547ce"/>
    <p:sldId xmlns:r="http://schemas.openxmlformats.org/officeDocument/2006/relationships" id="261" r:id="Rf2bd0f74bdd94397"/>
    <p:sldId xmlns:r="http://schemas.openxmlformats.org/officeDocument/2006/relationships" id="262" r:id="R9b75ec00d2dd4039"/>
    <p:sldId xmlns:r="http://schemas.openxmlformats.org/officeDocument/2006/relationships" id="263" r:id="R905ed35196d84121"/>
    <p:sldId xmlns:r="http://schemas.openxmlformats.org/officeDocument/2006/relationships" id="264" r:id="Raecdcd352df54976"/>
    <p:sldId xmlns:r="http://schemas.openxmlformats.org/officeDocument/2006/relationships" id="265" r:id="Raf72e03438744a92"/>
    <p:sldId xmlns:r="http://schemas.openxmlformats.org/officeDocument/2006/relationships" id="266" r:id="Rfbf244d16dc94d7b"/>
    <p:sldId xmlns:r="http://schemas.openxmlformats.org/officeDocument/2006/relationships" id="267" r:id="R545d0987c32e4dd6"/>
    <p:sldId xmlns:r="http://schemas.openxmlformats.org/officeDocument/2006/relationships" id="268" r:id="Rb13b59f6ae7c4285"/>
    <p:sldId xmlns:r="http://schemas.openxmlformats.org/officeDocument/2006/relationships" id="269" r:id="Rb6492523eba1460e"/>
    <p:sldId xmlns:r="http://schemas.openxmlformats.org/officeDocument/2006/relationships" id="270" r:id="Rcd47afb2695d491a"/>
    <p:sldId xmlns:r="http://schemas.openxmlformats.org/officeDocument/2006/relationships" id="271" r:id="R2ed2bd4a99ac4976"/>
    <p:sldId xmlns:r="http://schemas.openxmlformats.org/officeDocument/2006/relationships" id="272" r:id="Rad7f412913834399"/>
    <p:sldId xmlns:r="http://schemas.openxmlformats.org/officeDocument/2006/relationships" id="273" r:id="R2707b6af47bc44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6453d1096b49c2" /><Relationship Type="http://schemas.openxmlformats.org/officeDocument/2006/relationships/slideMaster" Target="/ppt/slideMasters/slideMaster1.xml" Id="R5198cc4927484061" /><Relationship Type="http://schemas.openxmlformats.org/officeDocument/2006/relationships/notesMaster" Target="/ppt/notesMasters/notesMaster1.xml" Id="R7e6271f164b2449d" /><Relationship Type="http://schemas.openxmlformats.org/officeDocument/2006/relationships/presProps" Target="/ppt/presProps.xml" Id="R7a4d0d5039444ce2" /><Relationship Type="http://schemas.openxmlformats.org/officeDocument/2006/relationships/tableStyles" Target="/ppt/tableStyles.xml" Id="R3f449b858d1548d4" /><Relationship Type="http://schemas.openxmlformats.org/officeDocument/2006/relationships/slide" Target="/ppt/slides/slide1.xml" Id="R83776036d1b34a75" /><Relationship Type="http://schemas.openxmlformats.org/officeDocument/2006/relationships/slide" Target="/ppt/slides/slide2.xml" Id="R820104720d4c4fe5" /><Relationship Type="http://schemas.openxmlformats.org/officeDocument/2006/relationships/slide" Target="/ppt/slides/slide3.xml" Id="R5a15e00f632d4f57" /><Relationship Type="http://schemas.openxmlformats.org/officeDocument/2006/relationships/slide" Target="/ppt/slides/slide4.xml" Id="R36eeeb66b8e347f1" /><Relationship Type="http://schemas.openxmlformats.org/officeDocument/2006/relationships/slide" Target="/ppt/slides/slide5.xml" Id="Rd9b4f1b9464547ce" /><Relationship Type="http://schemas.openxmlformats.org/officeDocument/2006/relationships/slide" Target="/ppt/slides/slide6.xml" Id="Rf2bd0f74bdd94397" /><Relationship Type="http://schemas.openxmlformats.org/officeDocument/2006/relationships/slide" Target="/ppt/slides/slide7.xml" Id="R9b75ec00d2dd4039" /><Relationship Type="http://schemas.openxmlformats.org/officeDocument/2006/relationships/slide" Target="/ppt/slides/slide8.xml" Id="R905ed35196d84121" /><Relationship Type="http://schemas.openxmlformats.org/officeDocument/2006/relationships/slide" Target="/ppt/slides/slide9.xml" Id="Raecdcd352df54976" /><Relationship Type="http://schemas.openxmlformats.org/officeDocument/2006/relationships/slide" Target="/ppt/slides/slide10.xml" Id="Raf72e03438744a92" /><Relationship Type="http://schemas.openxmlformats.org/officeDocument/2006/relationships/slide" Target="/ppt/slides/slide11.xml" Id="Rfbf244d16dc94d7b" /><Relationship Type="http://schemas.openxmlformats.org/officeDocument/2006/relationships/slide" Target="/ppt/slides/slide12.xml" Id="R545d0987c32e4dd6" /><Relationship Type="http://schemas.openxmlformats.org/officeDocument/2006/relationships/slide" Target="/ppt/slides/slide13.xml" Id="Rb13b59f6ae7c4285" /><Relationship Type="http://schemas.openxmlformats.org/officeDocument/2006/relationships/slide" Target="/ppt/slides/slide14.xml" Id="Rb6492523eba1460e" /><Relationship Type="http://schemas.openxmlformats.org/officeDocument/2006/relationships/slide" Target="/ppt/slides/slide15.xml" Id="Rcd47afb2695d491a" /><Relationship Type="http://schemas.openxmlformats.org/officeDocument/2006/relationships/slide" Target="/ppt/slides/slide16.xml" Id="R2ed2bd4a99ac4976" /><Relationship Type="http://schemas.openxmlformats.org/officeDocument/2006/relationships/slide" Target="/ppt/slides/slide17.xml" Id="Rad7f412913834399" /><Relationship Type="http://schemas.openxmlformats.org/officeDocument/2006/relationships/slide" Target="/ppt/slides/slide18.xml" Id="R2707b6af47bc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483cce3f140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3b9a92e034256" /><Relationship Type="http://schemas.openxmlformats.org/officeDocument/2006/relationships/notesMaster" Target="/ppt/notesMasters/notesMaster1.xml" Id="Rca96eb5f50c24d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8a9c632a4d4904" /><Relationship Type="http://schemas.openxmlformats.org/officeDocument/2006/relationships/notesMaster" Target="/ppt/notesMasters/notesMaster1.xml" Id="R96a5cb04ccd8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1f48de747a45e3" /><Relationship Type="http://schemas.openxmlformats.org/officeDocument/2006/relationships/notesMaster" Target="/ppt/notesMasters/notesMaster1.xml" Id="Ra013b909b5b54f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ed5c08c0da473d" /><Relationship Type="http://schemas.openxmlformats.org/officeDocument/2006/relationships/notesMaster" Target="/ppt/notesMasters/notesMaster1.xml" Id="R0104e3e62814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1a960e03174c1e" /><Relationship Type="http://schemas.openxmlformats.org/officeDocument/2006/relationships/notesMaster" Target="/ppt/notesMasters/notesMaster1.xml" Id="R81da9d7b034a42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d758aa78fe412f" /><Relationship Type="http://schemas.openxmlformats.org/officeDocument/2006/relationships/notesMaster" Target="/ppt/notesMasters/notesMaster1.xml" Id="Rc5665129f14b42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78eaf78be2417f" /><Relationship Type="http://schemas.openxmlformats.org/officeDocument/2006/relationships/notesMaster" Target="/ppt/notesMasters/notesMaster1.xml" Id="R6afcc937ea8a44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df2c002e67408b" /><Relationship Type="http://schemas.openxmlformats.org/officeDocument/2006/relationships/notesMaster" Target="/ppt/notesMasters/notesMaster1.xml" Id="R10617868d14741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8014f890464b3c" /><Relationship Type="http://schemas.openxmlformats.org/officeDocument/2006/relationships/notesMaster" Target="/ppt/notesMasters/notesMaster1.xml" Id="R2178214966b54c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5f15fb203c43fa" /><Relationship Type="http://schemas.openxmlformats.org/officeDocument/2006/relationships/notesMaster" Target="/ppt/notesMasters/notesMaster1.xml" Id="R43d5e549fd9e47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37dacdae42419b" /><Relationship Type="http://schemas.openxmlformats.org/officeDocument/2006/relationships/notesMaster" Target="/ppt/notesMasters/notesMaster1.xml" Id="R83315d99957345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f23648315a46c6" /><Relationship Type="http://schemas.openxmlformats.org/officeDocument/2006/relationships/notesMaster" Target="/ppt/notesMasters/notesMaster1.xml" Id="R3f564082a91247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1726d938f34719" /><Relationship Type="http://schemas.openxmlformats.org/officeDocument/2006/relationships/notesMaster" Target="/ppt/notesMasters/notesMaster1.xml" Id="R8fac871504454f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fe0df02d5c49fb" /><Relationship Type="http://schemas.openxmlformats.org/officeDocument/2006/relationships/notesMaster" Target="/ppt/notesMasters/notesMaster1.xml" Id="R6868ff84607842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fdf21812b749db" /><Relationship Type="http://schemas.openxmlformats.org/officeDocument/2006/relationships/notesMaster" Target="/ppt/notesMasters/notesMaster1.xml" Id="R117393305a3940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0662667b904ff0" /><Relationship Type="http://schemas.openxmlformats.org/officeDocument/2006/relationships/notesMaster" Target="/ppt/notesMasters/notesMaster1.xml" Id="R94cdbf73d0c347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baabb3b5a1477f" /><Relationship Type="http://schemas.openxmlformats.org/officeDocument/2006/relationships/notesMaster" Target="/ppt/notesMasters/notesMaster1.xml" Id="R410a2358f8f346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97430c08f540a0" /><Relationship Type="http://schemas.openxmlformats.org/officeDocument/2006/relationships/notesMaster" Target="/ppt/notesMasters/notesMaster1.xml" Id="R414a540d42e545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decision: optimize spend while preserving capacity headroom.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reports/demo-analysis.json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all numbers as deterministic demo outputs, not realized production savings.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reports/demo-analysis.json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raw dashboards with a traceable recommendation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docs/optimization-methodology.md</a:t>
            </a:r>
          </a:p>
          <a:p xmlns:a="http://schemas.openxmlformats.org/drawingml/2006/main">
            <a:r>
              <a:t>- docs/data-contracts.md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platform is read-only by design; humans own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docs/finops-operating-model.md</a:t>
            </a:r>
          </a:p>
          <a:p xmlns:a="http://schemas.openxmlformats.org/drawingml/2006/main">
            <a:r>
              <a:t>- docs/runbooks/recommendation-review.md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collect, normalize, decide, publish and govern.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docs/images/architecture.png</a:t>
            </a:r>
          </a:p>
          <a:p xmlns:a="http://schemas.openxmlformats.org/drawingml/2006/main">
            <a:r>
              <a:t>- https://support.huaweicloud.com/intl/en-us/usermanual-cost/costcenter_0000001.html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the model can accept exports today and APIs later without changing decision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docs/data-contracts.md</a:t>
            </a:r>
          </a:p>
          <a:p xmlns:a="http://schemas.openxmlformats.org/drawingml/2006/main">
            <a:r>
              <a:t>- https://support.huaweicloud.com/intl/en-us/usermanual-cost/costcenter_000002_09.html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savings are conservatively de-duplicated per resource.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reports/demo-analysis.json</a:t>
            </a:r>
          </a:p>
          <a:p xmlns:a="http://schemas.openxmlformats.org/drawingml/2006/main">
            <a:r>
              <a:t>- data/demo/resources.csv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Insights remains healthy at 78.93%, proving the model distinguishes scopes.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reports/demo-analysis.json</a:t>
            </a:r>
          </a:p>
          <a:p xmlns:a="http://schemas.openxmlformats.org/drawingml/2006/main">
            <a:r>
              <a:t>- https://support.huaweicloud.com/intl/en-us/usermanual-cost/costcenter_0000023_1.html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upper band for budget control, not the point forecast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reports/demo-analysis.json</a:t>
            </a:r>
          </a:p>
          <a:p xmlns:a="http://schemas.openxmlformats.org/drawingml/2006/main">
            <a:r>
              <a:t>- docs/optimization-methodology.md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imply root cause; the system provides evidence and an investigation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reports/demo-analysis.json</a:t>
            </a:r>
          </a:p>
          <a:p xmlns:a="http://schemas.openxmlformats.org/drawingml/2006/main">
            <a:r>
              <a:t>- docs/runbooks/cost-anomaly.md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compares modeled monthly resource run-rate before and after each top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reports/demo-analysis.json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capacity-risk recommendations can have zero savings and still rank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src/finops/services/optimization.py</a:t>
            </a:r>
          </a:p>
          <a:p xmlns:a="http://schemas.openxmlformats.org/drawingml/2006/main">
            <a:r>
              <a:t>- docs/optimization-methodology.md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resilience: cost optimization is subordinate to service 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reports/demo-analysis.json</a:t>
            </a:r>
          </a:p>
          <a:p xmlns:a="http://schemas.openxmlformats.org/drawingml/2006/main">
            <a:r>
              <a:t>- https://support.huaweicloud.com/intl/en-us/usermanual-cce/cce_10_0081.html</a:t>
            </a:r>
          </a:p>
          <a:p xmlns:a="http://schemas.openxmlformats.org/drawingml/2006/main">
            <a:r>
              <a:t>- https://support.huaweicloud.com/intl/en-us/usermanual-cce/cce_10_0877.html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policy to a failure mode: unallocated cost, runaway scaling or unsafe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policies/finops/kubernetes.rego</a:t>
            </a:r>
          </a:p>
          <a:p xmlns:a="http://schemas.openxmlformats.org/drawingml/2006/main">
            <a:r>
              <a:t>- docs/security-threat-model.md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repository as deployment-ready scaffolding, not a claim of a live customer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docs/deployment-huawei-cloud.md</a:t>
            </a:r>
          </a:p>
          <a:p xmlns:a="http://schemas.openxmlformats.org/drawingml/2006/main">
            <a:r>
              <a:t>- https://support.huaweicloud.com/intl/en-us/usermanual-cost/costcenter_0000001.html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locally verified results from CI gates that will execute after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docs/validation.md</a:t>
            </a:r>
          </a:p>
          <a:p xmlns:a="http://schemas.openxmlformats.org/drawingml/2006/main">
            <a:r>
              <a:t>- .github/workflows/ci.yml</a:t>
            </a:r>
          </a:p>
          <a:p xmlns:a="http://schemas.openxmlformats.org/drawingml/2006/main">
            <a:r>
              <a:t>- coverage.xml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read-only pilot and a named owner from Finance, Platform and product engineering.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docs/finops-operating-model.md</a:t>
            </a:r>
          </a:p>
          <a:p xmlns:a="http://schemas.openxmlformats.org/drawingml/2006/main">
            <a:r>
              <a:t>- 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specific decision and the evidence the pilot will produce.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docs/finops-operating-model.md</a:t>
            </a:r>
          </a:p>
          <a:p xmlns:a="http://schemas.openxmlformats.org/drawingml/2006/main">
            <a:r>
              <a:t>- docs/reports/executive-summary.md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e9294afab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e387d3e7154b2c" /><Relationship Type="http://schemas.openxmlformats.org/officeDocument/2006/relationships/slideLayout" Target="/ppt/slideLayouts/slideLayout1.xml" Id="R9b578cb6119f45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578cb6119f45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3202c77b64376" /><Relationship Type="http://schemas.openxmlformats.org/officeDocument/2006/relationships/notesSlide" Target="/ppt/notesSlides/notesSlide1.xml" Id="Rf32bebce2e584d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2fd2dbc094e4a" /><Relationship Type="http://schemas.openxmlformats.org/officeDocument/2006/relationships/notesSlide" Target="/ppt/notesSlides/notesSlide2.xml" Id="Rd706bb13dbf249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ac8ca43c24a88" /><Relationship Type="http://schemas.openxmlformats.org/officeDocument/2006/relationships/notesSlide" Target="/ppt/notesSlides/notesSlide3.xml" Id="R76faaa36db96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46835a28549ba" /><Relationship Type="http://schemas.openxmlformats.org/officeDocument/2006/relationships/notesSlide" Target="/ppt/notesSlides/notesSlide4.xml" Id="R1dcdc677663240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edbe3e15f4f0e" /><Relationship Type="http://schemas.openxmlformats.org/officeDocument/2006/relationships/image" Target="/ppt/media/image.png" Id="R6e22559da42843aa" /><Relationship Type="http://schemas.openxmlformats.org/officeDocument/2006/relationships/notesSlide" Target="/ppt/notesSlides/notesSlide5.xml" Id="R780f6885d795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f3311de394111" /><Relationship Type="http://schemas.openxmlformats.org/officeDocument/2006/relationships/notesSlide" Target="/ppt/notesSlides/notesSlide6.xml" Id="R1c78cf7c623b4b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c0549323d42b2" /><Relationship Type="http://schemas.openxmlformats.org/officeDocument/2006/relationships/chart" Target="/ppt/slides/charts/chart1.xml" Id="R607dd10817794501" /><Relationship Type="http://schemas.openxmlformats.org/officeDocument/2006/relationships/notesSlide" Target="/ppt/notesSlides/notesSlide7.xml" Id="R923ca17503be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bca049153443a" /><Relationship Type="http://schemas.openxmlformats.org/officeDocument/2006/relationships/notesSlide" Target="/ppt/notesSlides/notesSlide8.xml" Id="R0bda0e4eb84542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5606e6622456a" /><Relationship Type="http://schemas.openxmlformats.org/officeDocument/2006/relationships/chart" Target="/ppt/slides/charts/chart2.xml" Id="R4cafc2646a204139" /><Relationship Type="http://schemas.openxmlformats.org/officeDocument/2006/relationships/notesSlide" Target="/ppt/notesSlides/notesSlide9.xml" Id="Rf3527b1b33c546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cfa1598eb4307" /><Relationship Type="http://schemas.openxmlformats.org/officeDocument/2006/relationships/notesSlide" Target="/ppt/notesSlides/notesSlide10.xml" Id="Rf7aa792eec0e40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536d709e54d02" /><Relationship Type="http://schemas.openxmlformats.org/officeDocument/2006/relationships/chart" Target="/ppt/slides/charts/chart3.xml" Id="R29ec6b4381d34978" /><Relationship Type="http://schemas.openxmlformats.org/officeDocument/2006/relationships/notesSlide" Target="/ppt/notesSlides/notesSlide11.xml" Id="R060a03cc7cfc4f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1f8ed082d4fed" /><Relationship Type="http://schemas.openxmlformats.org/officeDocument/2006/relationships/notesSlide" Target="/ppt/notesSlides/notesSlide12.xml" Id="R1d077fb3cb7f44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ab2af63b64746" /><Relationship Type="http://schemas.openxmlformats.org/officeDocument/2006/relationships/notesSlide" Target="/ppt/notesSlides/notesSlide13.xml" Id="Rfb07fdd60f8742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6be1937834b57" /><Relationship Type="http://schemas.openxmlformats.org/officeDocument/2006/relationships/notesSlide" Target="/ppt/notesSlides/notesSlide14.xml" Id="Rf1e399d7313744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91c08915a4bf4" /><Relationship Type="http://schemas.openxmlformats.org/officeDocument/2006/relationships/notesSlide" Target="/ppt/notesSlides/notesSlide15.xml" Id="R6e2fa577b85a4f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2ed7e9eda48a7" /><Relationship Type="http://schemas.openxmlformats.org/officeDocument/2006/relationships/notesSlide" Target="/ppt/notesSlides/notesSlide16.xml" Id="Rd5a0d629f46942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1dfc22b7d499f" /><Relationship Type="http://schemas.openxmlformats.org/officeDocument/2006/relationships/notesSlide" Target="/ppt/notesSlides/notesSlide17.xml" Id="Re2fa244bc93e49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baf77ee46499c" /><Relationship Type="http://schemas.openxmlformats.org/officeDocument/2006/relationships/notesSlide" Target="/ppt/notesSlides/notesSlide18.xml" Id="R0a7a91089599414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Monthly run-rate</c:v>
          </c:tx>
          <c:spPr>
            <a:solidFill xmlns:a="http://schemas.openxmlformats.org/drawingml/2006/main">
              <a:srgbClr val="CBD5E1"/>
            </a:solidFill>
          </c:spPr>
          <c:cat>
            <c:strLit>
              <c:ptCount val="4"/>
              <c:pt idx="0">
                <c:v>ECS</c:v>
              </c:pt>
              <c:pt idx="1">
                <c:v>CCE</c:v>
              </c:pt>
              <c:pt idx="2">
                <c:v>RDS</c:v>
              </c:pt>
              <c:pt idx="3">
                <c:v>Other</c:v>
              </c:pt>
            </c:strLit>
          </c:cat>
          <c:val>
            <c:numLit>
              <c:formatCode>$0</c:formatCode>
              <c:ptCount val="4"/>
              <c:pt idx="0">
                <c:v>2130</c:v>
              </c:pt>
              <c:pt idx="1">
                <c:v>1810</c:v>
              </c:pt>
              <c:pt idx="2">
                <c:v>1210</c:v>
              </c:pt>
              <c:pt idx="3">
                <c:v>491</c:v>
              </c:pt>
            </c:numLit>
          </c:val>
        </c:ser>
        <c:ser>
          <c:idx val="1"/>
          <c:order val="1"/>
          <c:tx>
            <c:v>Savings opportunity</c:v>
          </c:tx>
          <c:spPr>
            <a:solidFill xmlns:a="http://schemas.openxmlformats.org/drawingml/2006/main">
              <a:srgbClr val="C7000B"/>
            </a:solidFill>
          </c:spPr>
          <c:cat>
            <c:strLit>
              <c:ptCount val="4"/>
              <c:pt idx="0">
                <c:v>ECS</c:v>
              </c:pt>
              <c:pt idx="1">
                <c:v>CCE</c:v>
              </c:pt>
              <c:pt idx="2">
                <c:v>RDS</c:v>
              </c:pt>
              <c:pt idx="3">
                <c:v>Other</c:v>
              </c:pt>
            </c:strLit>
          </c:cat>
          <c:val>
            <c:numLit>
              <c:formatCode>$0</c:formatCode>
              <c:ptCount val="4"/>
              <c:pt idx="0">
                <c:v>630.4</c:v>
              </c:pt>
              <c:pt idx="1">
                <c:v>365.6</c:v>
              </c:pt>
              <c:pt idx="2">
                <c:v>269.8</c:v>
              </c:pt>
              <c:pt idx="3">
                <c:v>254.9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4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6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Predicted</c:v>
          </c:tx>
          <c:spPr>
            <a:ln xmlns:a="http://schemas.openxmlformats.org/drawingml/2006/main" w="38100">
              <a:solidFill>
                <a:srgbClr val="C7000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3"/>
              <c:pt idx="0">
                <c:v>Jul</c:v>
              </c:pt>
              <c:pt idx="1">
                <c:v>Aug</c:v>
              </c:pt>
              <c:pt idx="2">
                <c:v>Sep</c:v>
              </c:pt>
            </c:strLit>
          </c:cat>
          <c:val>
            <c:numLit>
              <c:formatCode>$0</c:formatCode>
              <c:ptCount val="3"/>
              <c:pt idx="0">
                <c:v>6240.8</c:v>
              </c:pt>
              <c:pt idx="1">
                <c:v>6346.65</c:v>
              </c:pt>
              <c:pt idx="2">
                <c:v>6452.5</c:v>
              </c:pt>
            </c:numLit>
          </c:val>
        </c:ser>
        <c:ser>
          <c:idx val="1"/>
          <c:order val="1"/>
          <c:tx>
            <c:v>Upper bound</c:v>
          </c:tx>
          <c:spPr>
            <a:ln xmlns:a="http://schemas.openxmlformats.org/drawingml/2006/main" w="28575">
              <a:solidFill>
                <a:srgbClr val="94A3B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3"/>
              <c:pt idx="0">
                <c:v>Jul</c:v>
              </c:pt>
              <c:pt idx="1">
                <c:v>Aug</c:v>
              </c:pt>
              <c:pt idx="2">
                <c:v>Sep</c:v>
              </c:pt>
            </c:strLit>
          </c:cat>
          <c:val>
            <c:numLit>
              <c:formatCode>$0</c:formatCode>
              <c:ptCount val="3"/>
              <c:pt idx="0">
                <c:v>6529.62</c:v>
              </c:pt>
              <c:pt idx="1">
                <c:v>6755.1</c:v>
              </c:pt>
              <c:pt idx="2">
                <c:v>6952.75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200"/>
          <c:min val="56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Current run-rate</c:v>
          </c:tx>
          <c:spPr>
            <a:solidFill xmlns:a="http://schemas.openxmlformats.org/drawingml/2006/main">
              <a:srgbClr val="CBD5E1"/>
            </a:solidFill>
          </c:spPr>
          <c:cat>
            <c:strLit>
              <c:ptCount val="4"/>
              <c:pt idx="0">
                <c:v>CCE Prod</c:v>
              </c:pt>
              <c:pt idx="1">
                <c:v>Sandbox</c:v>
              </c:pt>
              <c:pt idx="2">
                <c:v>CCE Dev</c:v>
              </c:pt>
              <c:pt idx="3">
                <c:v>RDS</c:v>
              </c:pt>
            </c:strLit>
          </c:cat>
          <c:val>
            <c:numLit>
              <c:formatCode>$0</c:formatCode>
              <c:ptCount val="4"/>
              <c:pt idx="0">
                <c:v>740</c:v>
              </c:pt>
              <c:pt idx="1">
                <c:v>210</c:v>
              </c:pt>
              <c:pt idx="2">
                <c:v>330</c:v>
              </c:pt>
              <c:pt idx="3">
                <c:v>520</c:v>
              </c:pt>
            </c:numLit>
          </c:val>
        </c:ser>
        <c:ser>
          <c:idx val="1"/>
          <c:order val="1"/>
          <c:tx>
            <c:v>After action</c:v>
          </c:tx>
          <c:spPr>
            <a:solidFill xmlns:a="http://schemas.openxmlformats.org/drawingml/2006/main">
              <a:srgbClr val="C7000B"/>
            </a:solidFill>
          </c:spPr>
          <c:cat>
            <c:strLit>
              <c:ptCount val="4"/>
              <c:pt idx="0">
                <c:v>CCE Prod</c:v>
              </c:pt>
              <c:pt idx="1">
                <c:v>Sandbox</c:v>
              </c:pt>
              <c:pt idx="2">
                <c:v>CCE Dev</c:v>
              </c:pt>
              <c:pt idx="3">
                <c:v>RDS</c:v>
              </c:pt>
            </c:strLit>
          </c:cat>
          <c:val>
            <c:numLit>
              <c:formatCode>$0</c:formatCode>
              <c:ptCount val="4"/>
              <c:pt idx="0">
                <c:v>532.8</c:v>
              </c:pt>
              <c:pt idx="1">
                <c:v>46.2</c:v>
              </c:pt>
              <c:pt idx="2">
                <c:v>171.6</c:v>
              </c:pt>
              <c:pt idx="3">
                <c:v>374.4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EBCD8E28-8289-4046-BF9A-5587132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Intelligent capacity.
Defensible cloud economics.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3752687-8497-4E52-924F-BD44FB61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Explainable cost allocation, forecasting and optimization
Murat Miraç Gedik • Executive portfolio deck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F556CDA-7677-4320-81BA-94BE7E29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HUAWEI CLOUD • FINOPS</a:t>
            </a:r>
          </a:p>
        </p:txBody>
      </p:sp>
    </p:spTree>
    <p:extLst>
      <p:ext uri="{BB962C8B-B14F-4D97-AF65-F5344CB8AC3E}">
        <p14:creationId xmlns:p14="http://schemas.microsoft.com/office/powerpoint/2010/main" val="11307060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61A93F5-DCEC-490A-ACFD-225917B2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FFE676B-4FC6-40B5-8486-E8338228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FCD4371-1E12-4A51-A7F4-1AA7FDB7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08F91B3-24DB-4AAD-B283-67239547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A9DC477-1E81-47BD-B99C-0584C476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demo portfolio exposes $18.2K in annualized savings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0E0B59E-6960-41EA-85DE-92CB191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monthly savings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5E08B92-FC86-4A15-B140-ED5C1269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maturity score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48810C4-D902-4CE1-B9D9-DC8BC0C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opportunity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9287ECD-7358-43A4-85AD-34121BD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$1.52K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81C746B-67DD-430E-BF3F-0F215D98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24.79%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498B57E-ECF6-4ED4-A3AB-8B7F8B7D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96.4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0EA12D1-EE7F-40DA-8289-8D9A8BD0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EXECUTIVE THESIS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governed decision loop can reduce modeled run-rate without automating destructive changes.</a:t>
            </a:r>
          </a:p>
        </p:txBody>
      </p:sp>
      <p:sp>
        <p:nvSpPr>
          <p:cNvPr id="13" name="page-2">
            <a:extLst xmlns:a="http://schemas.openxmlformats.org/drawingml/2006/main">
              <a:ext uri="{FF2B5EF4-FFF2-40B4-BE49-F238E27FC236}">
                <a16:creationId xmlns:a16="http://schemas.microsoft.com/office/drawing/2014/main" id="{77381D00-2A80-48ED-A3E8-EBD0F89B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3052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BFE6EA-2C7F-47A2-922F-FBC9EBD4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7C009B4-DB95-4E39-9941-44FFE996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Cloud cost becomes actionable only when ownership meets telemetry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E972FFE-43F7-4027-881B-EAD71E24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7FEB73F-617E-493F-87AC-D540A219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Fragmented signals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94DA84A-2829-4106-AFC8-2B52815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Bills arrive after consumption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Capacity and cost live in separate views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Savings claims overlap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C065C42-0DC4-4B6C-A5BE-DE24951E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5C2065E-117D-4B2D-A46A-7142556B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system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345C48F-0335-41DE-8312-8356385A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cost contract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P95 utilization + headroom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Conservative non-overlap model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B74FEDF-73EA-40A2-98FD-0D8C155F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THIS PLATFORM EXISTS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Billing explains spend. Utilization explains load.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operating decision needs both - plus ownership, budgets and risk.</a:t>
            </a:r>
          </a:p>
        </p:txBody>
      </p:sp>
      <p:sp>
        <p:nvSpPr>
          <p:cNvPr id="10" name="page-3">
            <a:extLst xmlns:a="http://schemas.openxmlformats.org/drawingml/2006/main">
              <a:ext uri="{FF2B5EF4-FFF2-40B4-BE49-F238E27FC236}">
                <a16:creationId xmlns:a16="http://schemas.microsoft.com/office/drawing/2014/main" id="{19C706DB-93E7-4054-981B-6468DF38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4510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C4AA30E-D598-4911-864D-69D92ECB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35AB68E-2980-453B-9518-D6273E09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operating loop turns evidence into governed action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60AFC38-9D2C-4A20-AF0D-778AF95C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1B1A279-4099-47E0-A760-3AB4B7F2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430FD84-FE7B-4FF4-87C1-C9C1C716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DE5687C-AF02-4CFE-83A7-A1191E12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30D1F46-073B-4D9A-857E-D0C7C0E7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84229D0-4931-499D-A0D0-B4D7911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89B4395-945D-4C7E-A87E-A8C2833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the trade-off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Forecast, anomaly and rightsizing logic expose evidence and confidence.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77D2FA3-66B5-4D26-A933-D6F2768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Normalize signals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Cost exports, inventory, utilization, tags and budgets share one contract.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82EE6B6-779A-4661-A35A-B228EDBB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execution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gates, owners, rollback and post-change validation remain explicit.</a:t>
            </a:r>
          </a:p>
        </p:txBody>
      </p:sp>
      <p:sp>
        <p:nvSpPr>
          <p:cNvPr id="13" name="page-4">
            <a:extLst xmlns:a="http://schemas.openxmlformats.org/drawingml/2006/main">
              <a:ext uri="{FF2B5EF4-FFF2-40B4-BE49-F238E27FC236}">
                <a16:creationId xmlns:a16="http://schemas.microsoft.com/office/drawing/2014/main" id="{03060603-2ED4-4B9B-B78A-AA232E7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47145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A1E9B0-9D37-40F7-90F0-00EFD194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E7719C5-B0BF-41C1-8B56-B4D2CD73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governed architecture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EAB7F2C-7D86-42DF-B252-98E50613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1B3FA913-C70B-476D-AD72-247FB24F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READ-ONLY CONTROL PLANE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Huawei Cost Center exports and cloud telemetry feed a deterministic analytics core. FastAPI, CLI and Prometheus expose decisions; policy and runbooks govern change.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2559da42843aa"/>
          <a:stretch xmlns:a="http://schemas.openxmlformats.org/drawingml/2006/main"/>
        </p:blipFill>
        <p:spPr>
          <a:xfrm xmlns:a="http://schemas.openxmlformats.org/drawingml/2006/main">
            <a:off x="6269069" y="1632823"/>
            <a:ext cx="5539740" cy="3116104"/>
          </a:xfrm>
          <a:prstGeom xmlns:a="http://schemas.openxmlformats.org/drawingml/2006/main" prst="roundRect">
            <a:avLst>
              <a:gd name="adj" fmla="val 2264"/>
            </a:avLst>
          </a:prstGeom>
        </p:spPr>
      </p:pic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72A03F47-93BA-4119-AF50-30E39B62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82003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EA0D268-294C-41CD-B87B-65E6ADA9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72F7B5E-F92C-484F-A7BD-3F8A170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canonical contract makes every recommendation auditable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4F01154-2F0E-4A63-B065-DE8BB78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RESOURCE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Service, region, owner, cost center, product, pricing mode and capacity.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1C2734-BF3A-4EA5-B969-9B6D8083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COST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Actual and amortized daily cost with usage quantity and currency.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36D1BE9-D9AC-4E1E-9F3B-BCA46240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UTILIZATION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CPU, memory, network, disk and Kubernetes request saturation.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5A4D0E7-767E-40A2-8AE2-D2D93C7A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Scoped limits, alert thresholds, actuals and forecast utilization.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031E1A74-F3B0-404F-B21F-92C8C75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32065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2F59B35-012C-469F-96B9-D44553A9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7E48ABC-2387-4744-A3F8-6FBE9C03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ECS, CCE and RDS concentrate both spend and opportunity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A7DB443-4C3E-436B-BA25-B46D77E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$5.15K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95151962-C171-4143-9FB6-C393B8CF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top-3 spend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1A8317C-2BA8-4007-B3C9-5531D80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$1.27K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E1D16513-3FAE-4F7F-A8B1-5EDEFF4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top-3 savings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B0B75E0E-D26E-4759-98BB-C4646FD8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796A75DE-B252-401C-B2D8-CFF9311E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SERVICE ECONOMICS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largest savings pool sits where compute run-rate is highest; storage and network still contain fast, lower-risk wins.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7dd10817794501"/>
          </a:graphicData>
        </a:graphic>
      </p:graphicFrame>
      <p:sp>
        <p:nvSpPr>
          <p:cNvPr id="10" name="page-7">
            <a:extLst xmlns:a="http://schemas.openxmlformats.org/drawingml/2006/main">
              <a:ext uri="{FF2B5EF4-FFF2-40B4-BE49-F238E27FC236}">
                <a16:creationId xmlns:a16="http://schemas.microsoft.com/office/drawing/2014/main" id="{22447C2A-8F1D-4D31-95C4-C56ADD8F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631331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D97F9F6-F034-4BEE-855D-9A73832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F45B0FCA-12EC-4992-9771-128E5412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budget scopes require intervention before the next cycle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9FE45075-D6B0-4212-BA94-33B321CC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C82F8A5D-8666-4BF8-BACE-AB6E20D7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UTILIZATION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5301437B-2AC1-437B-8D4C-F1473E99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133%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572F5A17-CD20-4832-8299-11CB625B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breached</a:t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0319F3E9-C3A2-4DE3-A46F-1E665DC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936E78F5-B558-4798-8955-54031E2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portfolio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Total monthly cost already exceeds the $5.8K control limit.</a:t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4564E3A7-9DC4-4F52-96D3-775AC9A5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UTILIZATION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3518A89A-4813-457A-BA86-4A3DF4E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106%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E53BAA4-D555-4F26-BA75-DBA59BDF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breached</a:t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323B8D8C-50AE-455B-9522-DF9E574A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5AEC21EA-7BFC-4F7B-81F3-AE6DDE05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Commerce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Rightsizing and commitment review address the largest product scope.</a:t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E9666690-26FA-4289-97AD-15AC7750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UTILIZATION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F670C028-0DD5-4386-B0BD-4006FD54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104%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F6D64E80-883A-4022-BB10-31DCA4CE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breached</a:t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18201615-FA24-4D7F-9381-1364D9BB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Non-production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Scheduling and idle cleanup can reset the development baseline.</a:t>
            </a:r>
          </a:p>
        </p:txBody>
      </p:sp>
      <p:sp>
        <p:nvSpPr>
          <p:cNvPr id="18" name="page-8">
            <a:extLst xmlns:a="http://schemas.openxmlformats.org/drawingml/2006/main">
              <a:ext uri="{FF2B5EF4-FFF2-40B4-BE49-F238E27FC236}">
                <a16:creationId xmlns:a16="http://schemas.microsoft.com/office/drawing/2014/main" id="{C869DF3E-677B-4B0D-A2C4-7176DD19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224018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A560830-78B1-4AAF-A9AF-C698C0D8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67F8E85-4990-4222-A275-1F78313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forecast rises gradually while uncertainty compounds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5D8CA4E7-641D-4B29-82BC-BC83EAC6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F4E85F46-742E-4CE5-BD2C-76DA300F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$6.24K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5925DC1-D950-42E2-AFE2-689DD3F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July forecast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3632A402-EEBC-4146-A4D8-17070AD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D1EFB3F9-0F9B-4C2A-B93E-A4AEA040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$6.95K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00E81B9-00B0-41BA-8046-BCE09093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September upper band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DDE7B86B-446A-4B6F-AA3C-E544FD4A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Cost grows from $6.24K to $6.45K across the three-month horizon.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afc2646a204139"/>
          </a:graphicData>
        </a:graphic>
      </p:graphicFrame>
      <p:sp>
        <p:nvSpPr>
          <p:cNvPr id="11" name="page-9">
            <a:extLst xmlns:a="http://schemas.openxmlformats.org/drawingml/2006/main">
              <a:ext uri="{FF2B5EF4-FFF2-40B4-BE49-F238E27FC236}">
                <a16:creationId xmlns:a16="http://schemas.microsoft.com/office/drawing/2014/main" id="{A3D5ED03-F271-494D-AF72-57E3E31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69306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537A162-32F3-496C-A3A0-93D8D02C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D835369-B83D-4243-A5F2-E70CDA3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cost spikes are isolated for owner-led investigation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75E305C-1248-4B94-B6EE-4F648EB0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8F6C3FB-1F4A-411D-9255-5137DA2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CCE node spike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0A3B369-F263-4944-AD14-B91D62C8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 May 2026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$69.21 vs $25.48 expected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+171.68% • critical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003F60A-5B91-44E1-ADCE-E0E9236C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9B17DF8-7CA3-4750-9780-8A02CB27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ML workload spike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FAB07B3-81FE-4A89-88CB-785D93DB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 June 2026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$32.99 vs $17.05 expected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+93.55% • high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4FE1395-906D-47EE-AA1C-9760A619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ANOMALY REVIEW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Robust historical baselines reduce noise.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Severity reflects deviation and statistical score.</a:t>
            </a:r>
          </a:p>
        </p:txBody>
      </p:sp>
      <p:sp>
        <p:nvSpPr>
          <p:cNvPr id="10" name="page-10">
            <a:extLst xmlns:a="http://schemas.openxmlformats.org/drawingml/2006/main">
              <a:ext uri="{FF2B5EF4-FFF2-40B4-BE49-F238E27FC236}">
                <a16:creationId xmlns:a16="http://schemas.microsoft.com/office/drawing/2014/main" id="{EBEE47BA-D6D6-49DC-B81C-2C9542CF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10894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C717797-3225-4646-867C-D6AE0E0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3AC3E11-2597-4F8E-9787-9EF2C0E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prioritized actions unlock $675 per month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10F082E0-3427-414C-A225-92308838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C3EC84C-8DB6-4777-88A1-813A98A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sandbox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$164/month after owner approval and snapshot check.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73BB37A1-90FF-4094-AEA5-F8F7BFFD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A5B2CCC-37E6-4D77-92D0-A1CAE64B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Rightsize CCE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$207/month using P95 CPU and memory evidence.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42482C83-DA67-476A-89EA-301B8442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3375FFA6-4B39-4F44-BBFA-427893BD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Schedule + rightsize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$304/month across CCE development and analytics RDS.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ec6b4381d34978"/>
          </a:graphicData>
        </a:graphic>
      </p:graphicFrame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1B8A5E73-D9B4-4492-B727-2F0701CA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08742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019D3C9-FAFA-4806-B003-194F0CA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001D1C4-E563-49B6-ADD1-7EF7726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Recommendations combine efficiency, resilience and governance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7240E8B-57EF-428D-B9BA-42133F55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RIGHTSIZE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P95 utilization, confidence and required headroom.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1D3C75A-96DF-4BAF-BD32-7B54228F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ELIMINATE WASTE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Idle resources, schedules and storage lifecycle.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1F6C33E-4363-45EB-9BCF-43BD3E45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PRICE BETTER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Commit only stable production demand after review.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2462CBD-B328-4939-89E7-99340A6C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PROTECT CAPACITY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Flag saturation and tune CCE requests before scaling down.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6E86E471-D92B-44A3-8105-DB6C1CB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939372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4918B39-50A9-4FC5-A805-AA95E1AF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B96299-EE44-4693-980B-FB36CCC0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Capacity guardrails prevent savings from becoming an outage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9A9F410-BC5F-47AF-BF6F-35F4C559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FCDC38B0-9D4A-4B80-98CC-1A8A1091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7E2ACAF-F4CA-44CA-B762-25EF568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25% headroom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remains explicit and configurable.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D3D9A69-F7CD-477B-ADD5-B5C8DFD9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 ready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action preserves owner and evidence.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ABF63EC0-7319-444C-BD36-A19AF1E5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B91A7DF-2594-4E31-A154-E1791798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4A2B273A-7B85-4BF7-92BF-2BA73368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9DA478A-E5F9-4C64-ACE8-E7A2AF3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P95 first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Tail behavior matters more than averages.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E1C6C30-C8F5-4687-B43F-86E44035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B4036D77-5648-4AB5-91E9-8CC46632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ONE HIGH-RISK SIGNAL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production CCE node exceeds safe P95 utilization after headroom.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platform recommends capacity or autoscaling before any cost action.</a:t>
            </a:r>
          </a:p>
        </p:txBody>
      </p:sp>
      <p:sp>
        <p:nvSpPr>
          <p:cNvPr id="13" name="page-13">
            <a:extLst xmlns:a="http://schemas.openxmlformats.org/drawingml/2006/main">
              <a:ext uri="{FF2B5EF4-FFF2-40B4-BE49-F238E27FC236}">
                <a16:creationId xmlns:a16="http://schemas.microsoft.com/office/drawing/2014/main" id="{16A805BD-5BFC-4C63-BF70-E5E1A753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47806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A87C12F-7F21-4E3C-AABB-0531053B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7BB4EA8-8204-4E9B-8534-B185DA2F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makes safe cloud economics repeatable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BE28795-C2E0-4360-B0EE-BD394CA3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Deployment controls convert FinOps principles into enforceable defaults.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7703E33-7D2E-485D-88FF-7ACE25A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68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Cost-center and owner labels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FD90F0BC-415E-4EB7-B3B0-E68EBDF5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0125DF1-73C1-4D99-8305-4DD5665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 policy rejects workloads without allocation labels, resource requests or bounded autoscaling.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API remains non-root, read-only and observable.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98ACB6C-CF9B-4967-969D-A799E2F3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CPU and memory requests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8B41C89-41E1-499A-844D-2E9C6882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C44B4531-98D8-4B08-A26E-515B7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Non-root, read-only runtime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3F5A375-FAF8-43D1-B330-E68397D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F2FC9797-6226-4418-9FF7-E15AE3F8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73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HPA maximum replica ceiling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0F82724E-B3D2-4CF4-BE1D-E60765D6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5666015C-24E0-453C-857F-5F0EF9DA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77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automatic resource deletion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7CA645F-E3A6-4F8D-AA05-D3CDB5E1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page-14">
            <a:extLst xmlns:a="http://schemas.openxmlformats.org/drawingml/2006/main">
              <a:ext uri="{FF2B5EF4-FFF2-40B4-BE49-F238E27FC236}">
                <a16:creationId xmlns:a16="http://schemas.microsoft.com/office/drawing/2014/main" id="{41048DFD-01D6-4A93-BB8F-8B03FD6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497492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BE78C39-1746-46B5-A042-602E0922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22F3A1D-07D0-4B04-AC48-8933615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Huawei Cloud services map directly to the deployment model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3B76116-C9B1-4300-8E0C-43F1E868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COST &amp; DATA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Cost Center exports, OBS retention and canonical CSV/API adapters.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43DCB37-C2E9-4C15-92EF-0AB35556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AOM-compatible metrics, Grafana views and SMN alert routing.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25C98C88-89FA-40C7-B67B-1C7D757C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SWR image, CCE workload, HPA, PDB and network policy.</a:t>
            </a:r>
          </a:p>
        </p:txBody>
      </p:sp>
      <p:sp>
        <p:nvSpPr>
          <p:cNvPr id="6" name="page-15">
            <a:extLst xmlns:a="http://schemas.openxmlformats.org/drawingml/2006/main">
              <a:ext uri="{FF2B5EF4-FFF2-40B4-BE49-F238E27FC236}">
                <a16:creationId xmlns:a16="http://schemas.microsoft.com/office/drawing/2014/main" id="{C5AA7802-65CB-4649-BED3-5525AA03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85159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0B603BF-FC03-436D-A2D3-76BAEF87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4D66F32-7A1A-41B2-A22E-189D19DA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Quality gates make the repository deployable, not decorative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AE4E42A-13DF-4217-94E6-F294D2C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VERIFIED LOCALLY + AUTOMATED IN CI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tests validate analytics today; infrastructure and security checks run on every main-branch change.</a:t>
            </a:r>
          </a:p>
        </p:txBody>
      </p:sp>
      <p:graphicFrame>
        <p:nvGraphicFramePr>
          <p:cNvPr id="9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2000250"/>
                <a:gridCol w="1524000"/>
                <a:gridCol w="2571750"/>
                <a:gridCol w="2257425"/>
              </a:tblGrid>
              <a:tr h="4369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76200" marR="57150" marT="47625" marB="4762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marL="76200" marR="57150" marT="47625" marB="4762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6200" marR="57150" marT="47625" marB="4762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6200" marR="57150" marT="47625" marB="4762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76200" marR="57150" marT="47625" marB="47625" anchor="ctr">
                    <a:solidFill>
                      <a:srgbClr val="111827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Unit tests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53 scenarios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PASS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pytest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required</a:t>
                      </a:r>
                    </a:p>
                  </a:txBody>
                  <a:tcPr marL="76200" marR="57150" marT="38100" marB="38100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Coverage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branch-aware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97.09%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coverage.py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&gt;= 90%</a:t>
                      </a:r>
                    </a:p>
                  </a:txBody>
                  <a:tcPr marL="76200" marR="57150" marT="38100" marB="38100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Repository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JSON/YAML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PASS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validator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required</a:t>
                      </a:r>
                    </a:p>
                  </a:txBody>
                  <a:tcPr marL="76200" marR="57150" marT="38100" marB="38100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API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endpoints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PASS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TestClient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required</a:t>
                      </a:r>
                    </a:p>
                  </a:txBody>
                  <a:tcPr marL="76200" marR="57150" marT="38100" marB="38100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Terraform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fmt/validate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CI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Terraform 1.12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required</a:t>
                      </a:r>
                    </a:p>
                  </a:txBody>
                  <a:tcPr marL="76200" marR="57150" marT="38100" marB="38100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Container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build + smoke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CI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Docker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required</a:t>
                      </a:r>
                    </a:p>
                  </a:txBody>
                  <a:tcPr marL="76200" marR="57150" marT="38100" marB="38100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Security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code + image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CI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CodeQL/Trivy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required</a:t>
                      </a:r>
                    </a:p>
                  </a:txBody>
                  <a:tcPr marL="76200" marR="57150" marT="38100" marB="38100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Policy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tags + capacity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CI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OPA/Rego</a:t>
                      </a:r>
                    </a:p>
                  </a:txBody>
                  <a:tcPr marL="7620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827"/>
                          </a:solidFill>
                        </a:rPr>
                        <a:t>required</a:t>
                      </a:r>
                    </a:p>
                  </a:txBody>
                  <a:tcPr marL="76200" marR="57150" marT="38100" marB="38100" anchor="ctr"/>
                </a:tc>
              </a:tr>
            </a:tbl>
          </a:graphicData>
        </a:graphic>
      </p:graphicFrame>
      <p:sp>
        <p:nvSpPr>
          <p:cNvPr id="5" name="page-16">
            <a:extLst xmlns:a="http://schemas.openxmlformats.org/drawingml/2006/main">
              <a:ext uri="{FF2B5EF4-FFF2-40B4-BE49-F238E27FC236}">
                <a16:creationId xmlns:a16="http://schemas.microsoft.com/office/drawing/2014/main" id="{1287158F-7D64-4C60-97A3-540F3883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05667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31FCFAE-934F-434A-AB64-0DAF522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6201192-FDC9-4838-9030-CF94751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30-day pilot proves value before any production change</a:t>
            </a:r>
          </a:p>
        </p:txBody>
      </p:sp>
      <p:graphicFrame>
        <p:nvGraphicFramePr>
          <p:cNvPr id="19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WEEK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WEEK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WEEK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ONGOING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316F1122-461C-43CA-AFD5-246B2D71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B4058A5C-3E87-4ADB-8E44-D0E7A357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capacity and budgets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36DFB628-E86D-4C8D-9231-198E8CED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574A9BA6-7666-43C8-A5E5-6196EFB3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Weekly governance and evidence log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EA77F587-4197-4410-9002-6D5A6F95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FCDE455D-F75E-4CDC-85CF-D53E115B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realized savings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14456E40-0B08-48B2-801E-D37CAFC4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FE1DCB93-E3AB-4F9A-A2D6-126B34D9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Execute low-risk quick wins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A5756C4C-9D36-4E6D-86A8-227DAEA5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FBA583A6-CAB4-47C4-87A5-0D69FFBD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top 10 actions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BFD20C44-33F0-413B-AABB-EE9FE07A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C3D97819-326C-4FF6-8BCC-7F8FCB14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data + ownership</a:t>
            </a:r>
          </a:p>
        </p:txBody>
      </p:sp>
      <p:sp>
        <p:nvSpPr>
          <p:cNvPr id="16" name="page-17">
            <a:extLst xmlns:a="http://schemas.openxmlformats.org/drawingml/2006/main">
              <a:ext uri="{FF2B5EF4-FFF2-40B4-BE49-F238E27FC236}">
                <a16:creationId xmlns:a16="http://schemas.microsoft.com/office/drawing/2014/main" id="{050D84CE-3540-486F-B223-58CDBF3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885654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F7124450-9DD3-4AAD-B44E-CE7E1DC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a read-only
FinOps pilot.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8E6BE17-6C10-474B-B753-D50432F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7000B"/>
                </a:solidFill>
                <a:latin typeface="Helvetica Neue"/>
                <a:ea typeface="Helvetica Neue"/>
                <a:cs typeface="Helvetica Neue"/>
              </a:rPr>
              <a:t>30 days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Top 10 actions reviewed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Savings and capacity verified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48685BE-3EC0-44AB-B8C5-A6F1A941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214670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2026-07-28T18:56:03.9060000Z</dcterms:created>
  <dcterms:modified xsi:type="dcterms:W3CDTF">2026-07-28T18:56:03.9060000Z</dcterms:modified>
</coreProperties>
</file>